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a59504e31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a59504e31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9a59504e31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a59504e31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a59504e31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9a59504e31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a59504e31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a59504e31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9a59504e31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a59504e31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a59504e31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9a59504e31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6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22960" y="1097280"/>
            <a:ext cx="74980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Georgia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Recruitr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22960" y="256032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1A1A1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A1A1A1"/>
                </a:solidFill>
                <a:latin typeface="Calibri"/>
                <a:ea typeface="Calibri"/>
                <a:cs typeface="Calibri"/>
                <a:sym typeface="Calibri"/>
              </a:rPr>
              <a:t>Sports never had a talent problem.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1A1A1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A1A1A1"/>
                </a:solidFill>
                <a:latin typeface="Calibri"/>
                <a:ea typeface="Calibri"/>
                <a:cs typeface="Calibri"/>
                <a:sym typeface="Calibri"/>
              </a:rPr>
              <a:t>It had a visibility problem.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44805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DEMO DAY  ·  May</a:t>
            </a:r>
            <a:r>
              <a:rPr lang="en-US" sz="11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 xml:space="preserve">, </a:t>
            </a:r>
            <a:r>
              <a:rPr b="0" i="0" lang="en-US" sz="11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8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822960" y="548640"/>
            <a:ext cx="77724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Every athlete has a camera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in their pocket. None of them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have a direct line to the coaches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who need to see them.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822960" y="3108960"/>
            <a:ext cx="1371600" cy="36576"/>
          </a:xfrm>
          <a:prstGeom prst="rect">
            <a:avLst/>
          </a:prstGeom>
          <a:solidFill>
            <a:srgbClr val="E856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822960" y="338328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The athletes who get opportunities aren't the best.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They're the most connected.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846320" y="4023360"/>
            <a:ext cx="3931920" cy="777240"/>
          </a:xfrm>
          <a:prstGeom prst="rect">
            <a:avLst/>
          </a:prstGeom>
          <a:solidFill>
            <a:srgbClr val="FEF0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5029200" y="406908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That's a system-wide problem</a:t>
            </a:r>
            <a:r>
              <a:rPr i="1" lang="en-US" sz="1300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 xml:space="preserve">, </a:t>
            </a:r>
            <a:r>
              <a:rPr b="0" i="1" lang="en-US" sz="13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and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compounds at every level.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822960" y="100584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Talent discovery is broken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at every level.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0" y="2560320"/>
            <a:ext cx="9144000" cy="2583180"/>
          </a:xfrm>
          <a:prstGeom prst="rect">
            <a:avLst/>
          </a:prstGeom>
          <a:solidFill>
            <a:srgbClr val="F2F2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2788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/>
          <p:nvPr/>
        </p:nvSpPr>
        <p:spPr>
          <a:xfrm>
            <a:off x="822960" y="3291840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000"/>
              <a:buFont typeface="Georgia"/>
              <a:buNone/>
            </a:pPr>
            <a:r>
              <a:rPr b="0" i="1" lang="en-US" sz="20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We get 250 recruiting emails a day.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000"/>
              <a:buFont typeface="Georgia"/>
              <a:buNone/>
            </a:pPr>
            <a:r>
              <a:rPr b="0" i="1" lang="en-US" sz="20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We watch maybe 1–2 players in full.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822960" y="41148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— Tobias Esche, As</a:t>
            </a:r>
            <a:r>
              <a:rPr lang="en-US" sz="13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sistant</a:t>
            </a:r>
            <a:r>
              <a:rPr b="0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 xml:space="preserve"> Coach, Columbia University Men’s Soccer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822960" y="45720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1A1A1"/>
                </a:solidFill>
                <a:latin typeface="Calibri"/>
                <a:ea typeface="Calibri"/>
                <a:cs typeface="Calibri"/>
                <a:sym typeface="Calibri"/>
              </a:rPr>
              <a:t>Coaches are drowning. Athletes are invisible.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1A1A1"/>
                </a:solidFill>
                <a:latin typeface="Calibri"/>
                <a:ea typeface="Calibri"/>
                <a:cs typeface="Calibri"/>
                <a:sym typeface="Calibri"/>
              </a:rPr>
              <a:t>Film goes to YouTube and dies.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8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WHY NOW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822960" y="91440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This couldn’t have been built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two years ago.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822960" y="2286000"/>
            <a:ext cx="640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E8562A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1645920" y="22860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Athletes already film everything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1645920" y="26517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Video-first is the default</a:t>
            </a:r>
            <a:r>
              <a:rPr lang="en-US" sz="13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. E</a:t>
            </a:r>
            <a:r>
              <a:rPr b="0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very athlete has a highlight reel on their phone.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1645920" y="3063240"/>
            <a:ext cx="5486400" cy="9144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822960" y="3200400"/>
            <a:ext cx="640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E8562A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1645920" y="32004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 xml:space="preserve">Social Media + </a:t>
            </a:r>
            <a:r>
              <a:rPr b="1" i="0" lang="en-US" sz="16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NIL + transfer portal blew the market open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1645920" y="35661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Recruiting is no</a:t>
            </a:r>
            <a:r>
              <a:rPr lang="en-US" sz="13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 xml:space="preserve">t </a:t>
            </a:r>
            <a:r>
              <a:rPr b="0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 xml:space="preserve">just high school → college </a:t>
            </a:r>
            <a:r>
              <a:rPr lang="en-US" sz="13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→ pro</a:t>
            </a:r>
            <a:r>
              <a:rPr b="0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. It’s every level, every direction.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1645920" y="3977640"/>
            <a:ext cx="5486400" cy="9144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822960" y="4114800"/>
            <a:ext cx="640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E8562A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1645920" y="41148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Camps and networks can’t scale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1645920" y="44805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Coaches need digital discovery tools. The old system tops out.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822960" y="1097280"/>
            <a:ext cx="3840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000"/>
              <a:buFont typeface="Georgia"/>
              <a:buNone/>
            </a:pPr>
            <a:r>
              <a:rPr b="1" i="0" lang="en-US" sz="24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Athletes build video profiles.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000"/>
              <a:buFont typeface="Georgia"/>
              <a:buNone/>
            </a:pPr>
            <a:r>
              <a:rPr b="1" i="0" lang="en-US" sz="24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Coaches discover them.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822960" y="2560320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 ranked feed surfaces athletes by sport,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position, and fit. Verified coaches search,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shortlist, and message directly.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822960" y="356616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One platform replaces highlight tapes,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cold emails, spreadsheets, and guesswork.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7" title="Screenshot 2026-04-28 at 11.36.1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2552" y="487400"/>
            <a:ext cx="2557103" cy="416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E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"/>
          <p:cNvSpPr/>
          <p:nvPr/>
        </p:nvSpPr>
        <p:spPr>
          <a:xfrm>
            <a:off x="822960" y="3657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822960" y="914400"/>
            <a:ext cx="7498080" cy="3474720"/>
          </a:xfrm>
          <a:prstGeom prst="rect">
            <a:avLst/>
          </a:prstGeom>
          <a:solidFill>
            <a:srgbClr val="2525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8"/>
          <p:cNvSpPr/>
          <p:nvPr/>
        </p:nvSpPr>
        <p:spPr>
          <a:xfrm>
            <a:off x="822960" y="914400"/>
            <a:ext cx="74980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1A1A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A1A1A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2000">
                <a:solidFill>
                  <a:srgbClr val="A1A1A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0" i="0" lang="en-US" sz="2000" u="none" cap="none" strike="noStrike">
                <a:solidFill>
                  <a:srgbClr val="A1A1A1"/>
                </a:solidFill>
                <a:latin typeface="Calibri"/>
                <a:ea typeface="Calibri"/>
                <a:cs typeface="Calibri"/>
                <a:sym typeface="Calibri"/>
              </a:rPr>
              <a:t>alkthrough of the core action]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822960" y="4572000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 coach finds their next player in minutes</a:t>
            </a:r>
            <a:r>
              <a:rPr lang="en-US" sz="13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 xml:space="preserve"> not months.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8" title="Screenshot 2026-04-28 at 11.57.1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950" y="914400"/>
            <a:ext cx="7498102" cy="3657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9" title="Screenshot 2026-04-28 at 11.58.2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52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0" title="Screenshot 2026-04-28 at 11.58.5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79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1" title="Screenshot 2026-04-28 at 11.59.3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08092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2" title="Screenshot 2026-04-29 at 12.00.1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236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8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MARKET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822960" y="1005840"/>
            <a:ext cx="4572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6400"/>
              <a:buFont typeface="Georgia"/>
              <a:buNone/>
            </a:pPr>
            <a:r>
              <a:rPr b="1" i="0" lang="en-US" sz="64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$1.3B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822960" y="21031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TOP-DOWN  ·  Global sports recruiting software market (2025)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822960" y="24688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1A1A1"/>
                </a:solidFill>
                <a:latin typeface="Calibri"/>
                <a:ea typeface="Calibri"/>
                <a:cs typeface="Calibri"/>
                <a:sym typeface="Calibri"/>
              </a:rPr>
              <a:t>Growing to $3.4B by 2035 at 10.1% CAGR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822960" y="3017520"/>
            <a:ext cx="7498080" cy="9144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3"/>
          <p:cNvSpPr/>
          <p:nvPr/>
        </p:nvSpPr>
        <p:spPr>
          <a:xfrm>
            <a:off x="822960" y="329184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E8562A"/>
                </a:solidFill>
                <a:latin typeface="Georgia"/>
                <a:ea typeface="Georgia"/>
                <a:cs typeface="Georgia"/>
                <a:sym typeface="Georgia"/>
              </a:rPr>
              <a:t>$120M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822960" y="41148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BOTTOM-UP  ·  50K coaches × $200/mo × 12 = $120M addressable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822960" y="457200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1A1A1"/>
                </a:solidFill>
                <a:latin typeface="Calibri"/>
                <a:ea typeface="Calibri"/>
                <a:cs typeface="Calibri"/>
                <a:sym typeface="Calibri"/>
              </a:rPr>
              <a:t>2,000+ programs across NCAA, NAIA, NJCAA  ·  8M high school athletes  ·  600K+ college athletes.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"/>
          <p:cNvSpPr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TRACTION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822960" y="86868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200"/>
              <a:buFont typeface="Georgia"/>
              <a:buNone/>
            </a:pPr>
            <a:r>
              <a:rPr b="0" i="1" lang="en-US" sz="22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Show the slope, not the point.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rowth Chart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4754880" cy="3108960"/>
          </a:xfrm>
          <a:prstGeom prst="rect">
            <a:avLst/>
          </a:prstGeom>
        </p:spPr>
      </p:pic>
      <p:sp>
        <p:nvSpPr>
          <p:cNvPr id="125" name="Google Shape;125;p14"/>
          <p:cNvSpPr/>
          <p:nvPr/>
        </p:nvSpPr>
        <p:spPr>
          <a:xfrm>
            <a:off x="822960" y="1554480"/>
            <a:ext cx="475488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1A1A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1A1A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5943600" y="155448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E8562A"/>
                </a:solidFill>
                <a:latin typeface="Georgia"/>
                <a:ea typeface="Georgia"/>
                <a:cs typeface="Georgia"/>
                <a:sym typeface="Georgia"/>
              </a:rPr>
              <a:t>33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5943600" y="193852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Active users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5943600" y="233172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E8562A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/>
          <p:nvPr/>
        </p:nvSpPr>
        <p:spPr>
          <a:xfrm>
            <a:off x="5943600" y="271576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User testing sessions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5943600" y="310896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E8562A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5943600" y="34930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Sports represented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5943600" y="388620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E8562A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5943600" y="427024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Coach signups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8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/>
          <p:nvPr/>
        </p:nvSpPr>
        <p:spPr>
          <a:xfrm>
            <a:off x="822960" y="4572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BUSINESS 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822960" y="9144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How the money works.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822960" y="1737360"/>
            <a:ext cx="7498080" cy="685800"/>
          </a:xfrm>
          <a:prstGeom prst="rect">
            <a:avLst/>
          </a:prstGeom>
          <a:solidFill>
            <a:srgbClr val="F2F2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1005840" y="182880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Who pays?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3749040" y="182880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Coaches, scouts, and programs. Athletes are free.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1005840" y="26060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Pricing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3749040" y="260604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SaaS</a:t>
            </a:r>
            <a:r>
              <a:rPr lang="en-US" sz="15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 xml:space="preserve">: </a:t>
            </a:r>
            <a:r>
              <a:rPr b="0" i="0" lang="en-US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search, shortlists, messaging, workflow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822960" y="3291840"/>
            <a:ext cx="7498080" cy="685800"/>
          </a:xfrm>
          <a:prstGeom prst="rect">
            <a:avLst/>
          </a:prstGeom>
          <a:solidFill>
            <a:srgbClr val="F2F2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1005840" y="338328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Per seat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3749040" y="338328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$200 / month per coach, billed annually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1005840" y="41605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Gross margin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3749040" y="416052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80%+ software margins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COMPETITIVE LANDSCAPE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822960" y="100584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 xml:space="preserve">What exists today 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and what’s missing.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822960" y="2103120"/>
            <a:ext cx="4572000" cy="594360"/>
          </a:xfrm>
          <a:prstGeom prst="rect">
            <a:avLst/>
          </a:prstGeom>
          <a:solidFill>
            <a:srgbClr val="F2F2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1005840" y="214884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NCSA / Hudl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2743200" y="21488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Database, not social. No two-sided discovery.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822960" y="2788920"/>
            <a:ext cx="4572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1005840" y="283464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FieldLevel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2743200" y="28346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College-only. No mobile-first experience.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822960" y="3474720"/>
            <a:ext cx="4572000" cy="594360"/>
          </a:xfrm>
          <a:prstGeom prst="rect">
            <a:avLst/>
          </a:prstGeom>
          <a:solidFill>
            <a:srgbClr val="F2F2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1005840" y="352044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YouTube / Twitter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2743200" y="35204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No structure. Film dies in the feed.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822960" y="4160520"/>
            <a:ext cx="4572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1005840" y="420624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Spreadsheets + email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2743200" y="42062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The real competitor. Doesn’t scale.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5760720" y="2103120"/>
            <a:ext cx="3017520" cy="2743200"/>
          </a:xfrm>
          <a:prstGeom prst="rect">
            <a:avLst/>
          </a:prstGeom>
          <a:solidFill>
            <a:srgbClr val="FEF0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"/>
          <p:cNvSpPr/>
          <p:nvPr/>
        </p:nvSpPr>
        <p:spPr>
          <a:xfrm>
            <a:off x="5943600" y="219456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E8562A"/>
                </a:solidFill>
                <a:latin typeface="Georgia"/>
                <a:ea typeface="Georgia"/>
                <a:cs typeface="Georgia"/>
                <a:sym typeface="Georgia"/>
              </a:rPr>
              <a:t>Recruitr’s wedge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" name="Google Shape;17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271576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6"/>
          <p:cNvSpPr/>
          <p:nvPr/>
        </p:nvSpPr>
        <p:spPr>
          <a:xfrm>
            <a:off x="6263640" y="26974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Interactive</a:t>
            </a:r>
            <a:r>
              <a:rPr b="0" i="0" lang="en-US" sz="12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 xml:space="preserve"> social product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4" name="Google Shape;17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312724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6"/>
          <p:cNvSpPr/>
          <p:nvPr/>
        </p:nvSpPr>
        <p:spPr>
          <a:xfrm>
            <a:off x="6263640" y="310896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Two-sided marketplace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6" name="Google Shape;1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353872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6"/>
          <p:cNvSpPr/>
          <p:nvPr/>
        </p:nvSpPr>
        <p:spPr>
          <a:xfrm>
            <a:off x="6263640" y="35204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Verified coach trust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8" name="Google Shape;17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395020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6"/>
          <p:cNvSpPr/>
          <p:nvPr/>
        </p:nvSpPr>
        <p:spPr>
          <a:xfrm>
            <a:off x="6263640" y="393192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All levels, all sports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0" name="Google Shape;18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43616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6"/>
          <p:cNvSpPr/>
          <p:nvPr/>
        </p:nvSpPr>
        <p:spPr>
          <a:xfrm>
            <a:off x="6263640" y="434340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Workflow tools that replace spreadsheets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8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THE TEAM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822960" y="9144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Why us, for this.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822960" y="1645920"/>
            <a:ext cx="246888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7"/>
          <p:cNvSpPr/>
          <p:nvPr/>
        </p:nvSpPr>
        <p:spPr>
          <a:xfrm>
            <a:off x="1463040" y="1874520"/>
            <a:ext cx="1188720" cy="1188720"/>
          </a:xfrm>
          <a:prstGeom prst="ellipse">
            <a:avLst/>
          </a:prstGeom>
          <a:solidFill>
            <a:srgbClr val="E8E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7"/>
          <p:cNvSpPr/>
          <p:nvPr/>
        </p:nvSpPr>
        <p:spPr>
          <a:xfrm>
            <a:off x="1463040" y="1874520"/>
            <a:ext cx="1188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1A1A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1A1A1"/>
                </a:solidFill>
                <a:latin typeface="Calibri"/>
                <a:ea typeface="Calibri"/>
                <a:cs typeface="Calibri"/>
                <a:sym typeface="Calibri"/>
              </a:rPr>
              <a:t>[Photo]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1005840" y="32004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Joao Pedro Lima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1005840" y="356616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Co-founder, Product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1005840" y="393192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Division 1 Athlete</a:t>
            </a:r>
            <a:endParaRPr sz="1200">
              <a:solidFill>
                <a:srgbClr val="6B6B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CS @ Columbia</a:t>
            </a:r>
            <a:endParaRPr sz="1200">
              <a:solidFill>
                <a:srgbClr val="6B6B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3566160" y="1645920"/>
            <a:ext cx="246888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7"/>
          <p:cNvSpPr/>
          <p:nvPr/>
        </p:nvSpPr>
        <p:spPr>
          <a:xfrm>
            <a:off x="4206240" y="1874520"/>
            <a:ext cx="1188720" cy="1188720"/>
          </a:xfrm>
          <a:prstGeom prst="ellipse">
            <a:avLst/>
          </a:prstGeom>
          <a:solidFill>
            <a:srgbClr val="E8E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7"/>
          <p:cNvSpPr/>
          <p:nvPr/>
        </p:nvSpPr>
        <p:spPr>
          <a:xfrm>
            <a:off x="4206240" y="1874520"/>
            <a:ext cx="1188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1A1A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1A1A1"/>
                </a:solidFill>
                <a:latin typeface="Calibri"/>
                <a:ea typeface="Calibri"/>
                <a:cs typeface="Calibri"/>
                <a:sym typeface="Calibri"/>
              </a:rPr>
              <a:t>[Photo]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/>
          <p:nvPr/>
        </p:nvSpPr>
        <p:spPr>
          <a:xfrm>
            <a:off x="3749040" y="32004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Cam Wilson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3749040" y="356616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Co-founder, Engineering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3749040" y="393192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 xml:space="preserve">Developer and </a:t>
            </a:r>
            <a:r>
              <a:rPr lang="en-US" sz="12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Architect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6309360" y="1645920"/>
            <a:ext cx="246888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7"/>
          <p:cNvSpPr/>
          <p:nvPr/>
        </p:nvSpPr>
        <p:spPr>
          <a:xfrm>
            <a:off x="6949440" y="1874520"/>
            <a:ext cx="1188720" cy="1188720"/>
          </a:xfrm>
          <a:prstGeom prst="ellipse">
            <a:avLst/>
          </a:prstGeom>
          <a:solidFill>
            <a:srgbClr val="E8E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7"/>
          <p:cNvSpPr/>
          <p:nvPr/>
        </p:nvSpPr>
        <p:spPr>
          <a:xfrm>
            <a:off x="6949440" y="1874520"/>
            <a:ext cx="1188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1A1A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1A1A1"/>
                </a:solidFill>
                <a:latin typeface="Calibri"/>
                <a:ea typeface="Calibri"/>
                <a:cs typeface="Calibri"/>
                <a:sym typeface="Calibri"/>
              </a:rPr>
              <a:t>[Photo]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6492240" y="32004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Benjamin Sidley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6492240" y="356616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Co-founder, Growth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6492240" y="393192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Coach outreach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+ go-to-market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17" title="Screenshot 2026-04-21 at 6.12.3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4460" y="1797201"/>
            <a:ext cx="1292274" cy="134334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7"/>
          <p:cNvSpPr/>
          <p:nvPr/>
        </p:nvSpPr>
        <p:spPr>
          <a:xfrm rot="3124599">
            <a:off x="4070014" y="1254806"/>
            <a:ext cx="623325" cy="1243888"/>
          </a:xfrm>
          <a:prstGeom prst="mo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7"/>
          <p:cNvSpPr/>
          <p:nvPr/>
        </p:nvSpPr>
        <p:spPr>
          <a:xfrm rot="7602268">
            <a:off x="4904837" y="1254762"/>
            <a:ext cx="623403" cy="1243985"/>
          </a:xfrm>
          <a:prstGeom prst="mo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7"/>
          <p:cNvSpPr/>
          <p:nvPr/>
        </p:nvSpPr>
        <p:spPr>
          <a:xfrm rot="-2971637">
            <a:off x="3929846" y="2257473"/>
            <a:ext cx="623492" cy="1243990"/>
          </a:xfrm>
          <a:prstGeom prst="mo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7"/>
          <p:cNvSpPr/>
          <p:nvPr/>
        </p:nvSpPr>
        <p:spPr>
          <a:xfrm rot="-9362371">
            <a:off x="4906840" y="1925918"/>
            <a:ext cx="870954" cy="1458413"/>
          </a:xfrm>
          <a:prstGeom prst="mo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7"/>
          <p:cNvSpPr/>
          <p:nvPr/>
        </p:nvSpPr>
        <p:spPr>
          <a:xfrm>
            <a:off x="3818497" y="1755534"/>
            <a:ext cx="623400" cy="1243800"/>
          </a:xfrm>
          <a:prstGeom prst="mo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6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822960" y="5486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THE ASK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822960" y="118872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$500K pre-seed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1" name="Google Shape;2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26060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8"/>
          <p:cNvSpPr/>
          <p:nvPr/>
        </p:nvSpPr>
        <p:spPr>
          <a:xfrm>
            <a:off x="1280160" y="256032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1A1A1"/>
                </a:solidFill>
                <a:latin typeface="Calibri"/>
                <a:ea typeface="Calibri"/>
                <a:cs typeface="Calibri"/>
                <a:sym typeface="Calibri"/>
              </a:rPr>
              <a:t>Deploys to: native mobile app, coach acquisition, athlete seeding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3" name="Google Shape;22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31546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8"/>
          <p:cNvSpPr/>
          <p:nvPr/>
        </p:nvSpPr>
        <p:spPr>
          <a:xfrm>
            <a:off x="1280160" y="310896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1A1A1"/>
                </a:solidFill>
                <a:latin typeface="Calibri"/>
                <a:ea typeface="Calibri"/>
                <a:cs typeface="Calibri"/>
                <a:sym typeface="Calibri"/>
              </a:rPr>
              <a:t>Milestones: production recruiting loop, 50 paying coach accounts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5" name="Google Shape;22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37033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8"/>
          <p:cNvSpPr/>
          <p:nvPr/>
        </p:nvSpPr>
        <p:spPr>
          <a:xfrm>
            <a:off x="1280160" y="365760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1A1A1"/>
                </a:solidFill>
                <a:latin typeface="Calibri"/>
                <a:ea typeface="Calibri"/>
                <a:cs typeface="Calibri"/>
                <a:sym typeface="Calibri"/>
              </a:rPr>
              <a:t>Runway: 18 months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/>
          <p:nvPr/>
        </p:nvSpPr>
        <p:spPr>
          <a:xfrm>
            <a:off x="822960" y="4297680"/>
            <a:ext cx="3657600" cy="9144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8"/>
          <p:cNvSpPr/>
          <p:nvPr/>
        </p:nvSpPr>
        <p:spPr>
          <a:xfrm>
            <a:off x="822960" y="44805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recruitr.app  ·  team@recruitr.app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8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APPENDIX A  ·  USER RESEARCH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822960" y="91440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What 6 sessions with athletes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and coaches told us.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822960" y="2286000"/>
            <a:ext cx="640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E8562A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1645920" y="22860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Athletes stalled after signup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1645920" y="26517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Both athlete testers finished signup but didn’t know building their profile was the next step. Fix: 3-step guided onboarding (photo → school → first highlight).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1645920" y="3063240"/>
            <a:ext cx="5486400" cy="9144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822960" y="3200400"/>
            <a:ext cx="640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E8562A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1645920" y="32004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Coaches got blocked silently on messaging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1645920" y="35661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An unverified coach hit our messaging gate with no explanation. Fix: inline copy explaining verification + a direct link to submit credentials.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1645920" y="3977640"/>
            <a:ext cx="5486400" cy="9144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822960" y="4114800"/>
            <a:ext cx="640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E8562A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1645920" y="41148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Landing page didn’t convey what we 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1645920" y="44805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0 of 4 participants could articulate what Recruitr is from the landing page. Fix: split-path landing (athlete vs. coach) with explicit value props and coach-verification explainer.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8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APPENDIX B  ·  ROADMAP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822960" y="91440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What we’re building over the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next 8 weeks.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822960" y="2286000"/>
            <a:ext cx="640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E8562A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1645920" y="22860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Real media upload pipeline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1645920" y="26517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Phone-captured highlights persisting reliably to profile, feed, and DMs. MinIO now, Cloudflare Stream later. The supply side of the marketplace depends on this.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1645920" y="3063240"/>
            <a:ext cx="5486400" cy="9144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822960" y="3200400"/>
            <a:ext cx="640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E8562A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1645920" y="32004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Mobile web before native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1645920" y="35661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Athletes live on their phones. Fixing mobile-web layouts, tap targets, and the upload flow buys us the athlete experience without React Native cost.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1645920" y="3977640"/>
            <a:ext cx="5486400" cy="9144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822960" y="4114800"/>
            <a:ext cx="640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E8562A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1645920" y="41148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End-to-end recruiting loop with real users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1645920" y="44805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Demo Day target: one real athlete signs up, uploads a highlight, gets discovered by a real verified coach, receives a message, and replies. All real, no demo data.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8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/>
          <p:nvPr/>
        </p:nvSpPr>
        <p:spPr>
          <a:xfrm>
            <a:off x="822960" y="4572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APPENDIX C  ·  MVP STATUS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822960" y="9144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What’s shipped vs. what’s next.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822960" y="1737360"/>
            <a:ext cx="7498080" cy="685800"/>
          </a:xfrm>
          <a:prstGeom prst="rect">
            <a:avLst/>
          </a:prstGeom>
          <a:solidFill>
            <a:srgbClr val="F2F2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1005840" y="182880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3749040" y="182880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API endpoints live: auth, profiles, search, shortlist. 500+ NE schools seeded from IPEDS.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1005840" y="26060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3749040" y="260604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Web app</a:t>
            </a:r>
            <a:r>
              <a:rPr lang="en-US" sz="15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 xml:space="preserve">: </a:t>
            </a:r>
            <a:r>
              <a:rPr b="0" i="0" lang="en-US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feed, profiles, shortlists, in-app search via Meilisearch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822960" y="3291840"/>
            <a:ext cx="7498080" cy="685800"/>
          </a:xfrm>
          <a:prstGeom prst="rect">
            <a:avLst/>
          </a:prstGeom>
          <a:solidFill>
            <a:srgbClr val="F2F2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1005840" y="338328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Faked for now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3749040" y="338328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Manual coach verification (school email check). Email-based DM until in-app inbox ships.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1005840" y="41605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Next 8 weeks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3749040" y="416052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Real video uploads (MinIO → Cloudflare Stream), mobile-web polish, end-to-end recruiting loop with real users.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APPENDIX D  ·  RISKS &amp; QUESTIONS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822960" y="100584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 xml:space="preserve">What could kill this 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and how we’ll find out.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822960" y="2103120"/>
            <a:ext cx="4572000" cy="594360"/>
          </a:xfrm>
          <a:prstGeom prst="rect">
            <a:avLst/>
          </a:prstGeom>
          <a:solidFill>
            <a:srgbClr val="F2F2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1005840" y="214884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Video uploads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2743200" y="21488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Highest-risk dependency. Phone uploads on slow networks must just work, or the supply side breaks.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822960" y="2788920"/>
            <a:ext cx="4572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1005840" y="283464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Coach adoption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2743200" y="28346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Demand side requires trust. Slow to warm up; today driven by 1:1 outreach and warm intros.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822960" y="3474720"/>
            <a:ext cx="4572000" cy="594360"/>
          </a:xfrm>
          <a:prstGeom prst="rect">
            <a:avLst/>
          </a:prstGeom>
          <a:solidFill>
            <a:srgbClr val="F2F2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1005840" y="352044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Profile completion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2743200" y="35204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Drop-off rate from signup to first uploaded highlight is the metric we don’t yet measure. Instrumenting now.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822960" y="4160520"/>
            <a:ext cx="4572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1005840" y="420624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Off-platform leakage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2743200" y="42062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Recruiting moves to phone/visit once intro happens. Re-engagement hook for athletes is unproven.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5760720" y="2103120"/>
            <a:ext cx="3017520" cy="2743200"/>
          </a:xfrm>
          <a:prstGeom prst="rect">
            <a:avLst/>
          </a:prstGeom>
          <a:solidFill>
            <a:srgbClr val="FEF0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"/>
          <p:cNvSpPr/>
          <p:nvPr/>
        </p:nvSpPr>
        <p:spPr>
          <a:xfrm>
            <a:off x="5943600" y="219456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E8562A"/>
                </a:solidFill>
                <a:latin typeface="Georgia"/>
                <a:ea typeface="Georgia"/>
                <a:cs typeface="Georgia"/>
                <a:sym typeface="Georgia"/>
              </a:rPr>
              <a:t>What we’ll learn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" name="Google Shape;17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271576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6"/>
          <p:cNvSpPr/>
          <p:nvPr/>
        </p:nvSpPr>
        <p:spPr>
          <a:xfrm>
            <a:off x="6263640" y="26974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Profile completion 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4" name="Google Shape;17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312724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6"/>
          <p:cNvSpPr/>
          <p:nvPr/>
        </p:nvSpPr>
        <p:spPr>
          <a:xfrm>
            <a:off x="6263640" y="310896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Coach session frequency &amp; depth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6" name="Google Shape;1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353872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6"/>
          <p:cNvSpPr/>
          <p:nvPr/>
        </p:nvSpPr>
        <p:spPr>
          <a:xfrm>
            <a:off x="6263640" y="35204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Trust signal: is verification enough?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8" name="Google Shape;17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395020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6"/>
          <p:cNvSpPr/>
          <p:nvPr/>
        </p:nvSpPr>
        <p:spPr>
          <a:xfrm>
            <a:off x="6263640" y="393192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Athlete re-engagement trigger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0" name="Google Shape;18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43616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6"/>
          <p:cNvSpPr/>
          <p:nvPr/>
        </p:nvSpPr>
        <p:spPr>
          <a:xfrm>
            <a:off x="6263640" y="434340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Feed ranking signal quality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